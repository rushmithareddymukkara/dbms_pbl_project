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2" id="{60409C67-FE75-1577-2BB7-E005FCAB8E8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DA429-24D8-AE45-81F5-DD1E1575C8F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078B2-B23F-D443-8B2B-2F73462D1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9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1"/>
                </a:solidFill>
              </a:rPr>
              <a:t>Faculty Workload &amp; Timetable Management System  |  Review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REVIEW 2  |  WEEK 11  |  5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Faculty Workload and Timetable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6E6"/>
                </a:solidFill>
              </a:rPr>
              <a:t>Database Design (3NF), DDL Implementation, SQL Queries &amp; Streamlit Dashboard Prototype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8288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Rushmitha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</a:rPr>
              <a:t>B.Tech - Artificial Intelligence &amp; Machine Learning (AIML)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C9D6E6"/>
                </a:solidFill>
              </a:rPr>
              <a:t>Woxsen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Review 2 Objectives &amp; Progress Overview</a:t>
            </a:r>
            <a:endParaRPr lang="en-US" sz="2600" dirty="0"/>
          </a:p>
        </p:txBody>
      </p:sp>
      <p:sp>
        <p:nvSpPr>
          <p:cNvPr id="3" name="Review 1 card"/>
          <p:cNvSpPr/>
          <p:nvPr/>
        </p:nvSpPr>
        <p:spPr>
          <a:xfrm>
            <a:off x="457200" y="1051560"/>
            <a:ext cx="292608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view 1 card accent"/>
          <p:cNvSpPr/>
          <p:nvPr/>
        </p:nvSpPr>
        <p:spPr>
          <a:xfrm>
            <a:off x="457200" y="1051560"/>
            <a:ext cx="64008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REVIEW 1 - COMPLETED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Problem statement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Literature survey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Conceptual ER diagram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High-level relational schema</a:t>
            </a:r>
            <a:endParaRPr lang="en-US" sz="1500" dirty="0"/>
          </a:p>
        </p:txBody>
      </p:sp>
      <p:sp>
        <p:nvSpPr>
          <p:cNvPr id="7" name="Review 2 card"/>
          <p:cNvSpPr/>
          <p:nvPr/>
        </p:nvSpPr>
        <p:spPr>
          <a:xfrm>
            <a:off x="3611880" y="1051560"/>
            <a:ext cx="507492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view 2 card accent"/>
          <p:cNvSpPr/>
          <p:nvPr/>
        </p:nvSpPr>
        <p:spPr>
          <a:xfrm>
            <a:off x="3611880" y="105156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REVIEW 2 - CURRENT DELIVERABLES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6002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Normalization up to Third Normal Form (3NF)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 DDL scripts with PK, FK, UNIQUE, NOT NULL, CHECK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Realistic academic sample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Analytical SQL: workload, room utilization, clash prevention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Streamlit dashboard with real-time validation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Normalization: 1NF to 3NF</a:t>
            </a:r>
            <a:endParaRPr lang="en-US" sz="2600" dirty="0"/>
          </a:p>
        </p:txBody>
      </p:sp>
      <p:sp>
        <p:nvSpPr>
          <p:cNvPr id="3" name="NF card 1NF"/>
          <p:cNvSpPr/>
          <p:nvPr/>
        </p:nvSpPr>
        <p:spPr>
          <a:xfrm>
            <a:off x="457200" y="1051560"/>
            <a:ext cx="26060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F card 1NF accent"/>
          <p:cNvSpPr/>
          <p:nvPr/>
        </p:nvSpPr>
        <p:spPr>
          <a:xfrm>
            <a:off x="457200" y="105156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1NF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Atomic values only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No repeating multi-valued fields; every table has an explicit primary key.</a:t>
            </a:r>
            <a:endParaRPr lang="en-US" sz="1450" dirty="0"/>
          </a:p>
        </p:txBody>
      </p:sp>
      <p:sp>
        <p:nvSpPr>
          <p:cNvPr id="8" name="NF card 2NF"/>
          <p:cNvSpPr/>
          <p:nvPr/>
        </p:nvSpPr>
        <p:spPr>
          <a:xfrm>
            <a:off x="3264408" y="1051560"/>
            <a:ext cx="26060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F card 2NF accent"/>
          <p:cNvSpPr/>
          <p:nvPr/>
        </p:nvSpPr>
        <p:spPr>
          <a:xfrm>
            <a:off x="3264408" y="105156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2NF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partial dependencies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Already in 1NF; every non-key attribute depends on the whole primary key.</a:t>
            </a:r>
            <a:endParaRPr lang="en-US" sz="1450" dirty="0"/>
          </a:p>
        </p:txBody>
      </p:sp>
      <p:sp>
        <p:nvSpPr>
          <p:cNvPr id="13" name="NF card 3NF"/>
          <p:cNvSpPr/>
          <p:nvPr/>
        </p:nvSpPr>
        <p:spPr>
          <a:xfrm>
            <a:off x="6071616" y="1051560"/>
            <a:ext cx="26060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F card 3NF accent"/>
          <p:cNvSpPr/>
          <p:nvPr/>
        </p:nvSpPr>
        <p:spPr>
          <a:xfrm>
            <a:off x="6071616" y="105156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3NF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transitive dependencies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51460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Non-key attributes depend only on the key. E.g. department names live only in Department and are linked by foreign key.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Core Relational Tables (3NF Schema)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Attributes (first attribute is the primary key)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Department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dept_id, dept_name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Faculty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faculty_id, name, email, max_hours_per_week, dept_id (FK)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Course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course_id, course_code, course_name, credits, weekly_hours, dept_id (FK)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Section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section_id, section_name, enrolled_students, course_id (FK)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Room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room_id, room_number, capacity, room_type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Timeslot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slot_id, day_of_week, start_time, end_time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TimetableEntry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entry_id, section_id, faculty_id, room_id, slot_id (all FK) - enforces zero clashes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Substitution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38"/>
                          </a:solidFill>
                        </a:rPr>
                        <a:t>substitution_id, entry_id, original_faculty_id, substitute_faculty_id, sub_date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SQL DDL Implementation &amp; Integrity Constraints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Enforced in MySQL / SQLite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Clash prevention: </a:t>
            </a:r>
            <a:r>
              <a:rPr lang="en-US" sz="1400" dirty="0">
                <a:solidFill>
                  <a:schemeClr val="tx1"/>
                </a:solidFill>
              </a:rPr>
              <a:t>composite UNIQUE on faculty+slot, room+slot, section+slot blocks double-booking in the database.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Referential integrity: </a:t>
            </a:r>
            <a:r>
              <a:rPr lang="en-US" sz="1400" dirty="0">
                <a:solidFill>
                  <a:schemeClr val="tx1"/>
                </a:solidFill>
              </a:rPr>
              <a:t>FOREIGN KEYs with ON DELETE CASCADE / SET NULL prevent orphans.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Domain rules: </a:t>
            </a:r>
            <a:r>
              <a:rPr lang="en-US" sz="1400" dirty="0">
                <a:solidFill>
                  <a:schemeClr val="tx1"/>
                </a:solidFill>
              </a:rPr>
              <a:t>ENUM and CHECK keep room types, capacities and hours valid.</a:t>
            </a:r>
            <a:endParaRPr lang="en-US" sz="1400" dirty="0"/>
          </a:p>
        </p:txBody>
      </p:sp>
      <p:sp>
        <p:nvSpPr>
          <p:cNvPr id="4" name="DDL code"/>
          <p:cNvSpPr/>
          <p:nvPr/>
        </p:nvSpPr>
        <p:spPr>
          <a:xfrm>
            <a:off x="3657600" y="1005840"/>
            <a:ext cx="5029200" cy="35661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94760" y="10972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TimetableEntry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entry_id   INT PRIMARY KEY AUTO_INCREMENT,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section_id INT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faculty_id INT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room_id    INT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slot_id    INT NOT NULL,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(section_id)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Section(section_id) ON DELETE CASCADE,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(faculty_id)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Faculty(faculty_id) ON DELETE CASCADE,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(room_id)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Room(room_id) ON DELETE CASCADE,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(slot_id)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Timeslot(slot_id) ON DELETE CASCADE,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unique_faculty_slot UNIQUE (faculty_id, slot_id),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unique_room_slot    UNIQUE (room_id, slot_id),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unique_section_slot UNIQUE (section_id, slot_id)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Advanced SQL Queries &amp; Analytics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1. Faculty workload aggregation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16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Assigned hours vs. weekly limit - policy compliance</a:t>
            </a:r>
            <a:endParaRPr lang="en-US" sz="1100" dirty="0"/>
          </a:p>
        </p:txBody>
      </p:sp>
      <p:sp>
        <p:nvSpPr>
          <p:cNvPr id="5" name="Workload code"/>
          <p:cNvSpPr/>
          <p:nvPr/>
        </p:nvSpPr>
        <p:spPr>
          <a:xfrm>
            <a:off x="457200" y="1554480"/>
            <a:ext cx="4663440" cy="3017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f.faculty_id,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f.name AS faculty_name,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f.max_hours_per_week,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COUNT(te.entry_id) AS total_assigned_hours,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(f.max_hours_per_week - COUNT(te.entry_id))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remaining_capacity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Faculty 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TimetableEntry 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f.faculty_id = te.faculty_id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f.faculty_id, f.name,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f.max_hours_per_week;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2. Free room finder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Available rooms for a given time slot</a:t>
            </a:r>
            <a:endParaRPr lang="en-US" sz="1100" dirty="0"/>
          </a:p>
        </p:txBody>
      </p:sp>
      <p:sp>
        <p:nvSpPr>
          <p:cNvPr id="9" name="Free room code"/>
          <p:cNvSpPr/>
          <p:nvPr/>
        </p:nvSpPr>
        <p:spPr>
          <a:xfrm>
            <a:off x="5349240" y="1554480"/>
            <a:ext cx="3337560" cy="3017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16459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r.room_id, r.room_number,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r.capacity, r.room_type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Room 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r.room_id NOT IN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room_id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TimetableEntry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slot_id 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Implementation Prototype: Streamlit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Why Streamlit? A clean, interactive web interface in pure Python - no HTML/CSS boilerplate.</a:t>
            </a:r>
            <a:endParaRPr lang="en-US" sz="1300" dirty="0"/>
          </a:p>
        </p:txBody>
      </p:sp>
      <p:sp>
        <p:nvSpPr>
          <p:cNvPr id="4" name="Feature 1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ature 1 accent"/>
          <p:cNvSpPr/>
          <p:nvPr/>
        </p:nvSpPr>
        <p:spPr>
          <a:xfrm>
            <a:off x="457200" y="1463040"/>
            <a:ext cx="64008" cy="1371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Database Connection Manager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Connects directly to the SQLite / MySQL backend.</a:t>
            </a:r>
            <a:endParaRPr lang="en-US" sz="1400" dirty="0"/>
          </a:p>
        </p:txBody>
      </p:sp>
      <p:sp>
        <p:nvSpPr>
          <p:cNvPr id="8" name="Feature 2"/>
          <p:cNvSpPr/>
          <p:nvPr/>
        </p:nvSpPr>
        <p:spPr>
          <a:xfrm>
            <a:off x="4663440" y="1463040"/>
            <a:ext cx="40233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2 accent"/>
          <p:cNvSpPr/>
          <p:nvPr/>
        </p:nvSpPr>
        <p:spPr>
          <a:xfrm>
            <a:off x="4663440" y="1463040"/>
            <a:ext cx="64008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Master Data Viewer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65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Tabular views of Departments, Faculty, Courses and Rooms.</a:t>
            </a:r>
            <a:endParaRPr lang="en-US" sz="1400" dirty="0"/>
          </a:p>
        </p:txBody>
      </p:sp>
      <p:sp>
        <p:nvSpPr>
          <p:cNvPr id="12" name="Feature 3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eature 3 accent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154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Interactive Schedule Form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5204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Lets users enter new timetable assignments.</a:t>
            </a:r>
            <a:endParaRPr lang="en-US" sz="1400" dirty="0"/>
          </a:p>
        </p:txBody>
      </p:sp>
      <p:sp>
        <p:nvSpPr>
          <p:cNvPr id="16" name="Feature 4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eature 4 accent"/>
          <p:cNvSpPr/>
          <p:nvPr/>
        </p:nvSpPr>
        <p:spPr>
          <a:xfrm>
            <a:off x="4663440" y="3017520"/>
            <a:ext cx="64008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154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Real-Time Validation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5204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Checks Room Capacity &gt;= Section Strength and blocks double-booking clashes before any write.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Summary &amp; Review 3 Roadmap</a:t>
            </a:r>
            <a:endParaRPr lang="en-US" sz="2600" dirty="0"/>
          </a:p>
        </p:txBody>
      </p:sp>
      <p:sp>
        <p:nvSpPr>
          <p:cNvPr id="3" name="Achievements card"/>
          <p:cNvSpPr/>
          <p:nvPr/>
        </p:nvSpPr>
        <p:spPr>
          <a:xfrm>
            <a:off x="457200" y="105156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hievements card accent"/>
          <p:cNvSpPr/>
          <p:nvPr/>
        </p:nvSpPr>
        <p:spPr>
          <a:xfrm>
            <a:off x="457200" y="1051560"/>
            <a:ext cx="64008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REVIEW 2 ACHIEVEMENTS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Robust 3NF relational schema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Business rules enforced through DDL constraints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Advanced SQL analytics for workload and rooms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Working Streamlit prototype for live demo</a:t>
            </a:r>
            <a:endParaRPr lang="en-US" sz="1500" dirty="0"/>
          </a:p>
        </p:txBody>
      </p:sp>
      <p:sp>
        <p:nvSpPr>
          <p:cNvPr id="7" name="Roadmap card"/>
          <p:cNvSpPr/>
          <p:nvPr/>
        </p:nvSpPr>
        <p:spPr>
          <a:xfrm>
            <a:off x="4663440" y="105156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oadmap card accent"/>
          <p:cNvSpPr/>
          <p:nvPr/>
        </p:nvSpPr>
        <p:spPr>
          <a:xfrm>
            <a:off x="4663440" y="1051560"/>
            <a:ext cx="64008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7A1B"/>
                </a:solidFill>
              </a:rPr>
              <a:t>ROADMAP: REVIEW 3 (WEEK 16)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Integrate automated clash detection and substitution modules into the front 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System testing under edge-case load conditions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Final documentation, report and viva-voce presentation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2">
  <a:themeElements>
    <a:clrScheme name="Review2">
      <a:dk1>
        <a:srgbClr val="1E2A38"/>
      </a:dk1>
      <a:lt1>
        <a:srgbClr val="FFFFFF"/>
      </a:lt1>
      <a:dk2>
        <a:srgbClr val="14284B"/>
      </a:dk2>
      <a:lt2>
        <a:srgbClr val="EEF3F8"/>
      </a:lt2>
      <a:accent1>
        <a:srgbClr val="0F7C8C"/>
      </a:accent1>
      <a:accent2>
        <a:srgbClr val="E8A33D"/>
      </a:accent2>
      <a:accent3>
        <a:srgbClr val="3B5BA5"/>
      </a:accent3>
      <a:accent4>
        <a:srgbClr val="5BA37A"/>
      </a:accent4>
      <a:accent5>
        <a:srgbClr val="C0504D"/>
      </a:accent5>
      <a:accent6>
        <a:srgbClr val="7A6FB0"/>
      </a:accent6>
      <a:hlink>
        <a:srgbClr val="0F7C8C"/>
      </a:hlink>
      <a:folHlink>
        <a:srgbClr val="7A6FB0"/>
      </a:folHlink>
    </a:clrScheme>
    <a:fontScheme name="Review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Review2</vt:lpstr>
      <vt:lpstr>PowerPoint Presentation</vt:lpstr>
      <vt:lpstr>Review 2 Objectives &amp; Progress Overview</vt:lpstr>
      <vt:lpstr>Normalization: 1NF to 3NF</vt:lpstr>
      <vt:lpstr>Core Relational Tables (3NF Schema)</vt:lpstr>
      <vt:lpstr>SQL DDL Implementation &amp; Integrity Constraints</vt:lpstr>
      <vt:lpstr>Advanced SQL Queries &amp; Analytics</vt:lpstr>
      <vt:lpstr>Implementation Prototype: Streamlit Dashboard</vt:lpstr>
      <vt:lpstr>Summary &amp; Review 3 Roadmap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Workload and Timetable Management System - Review 2</dc:title>
  <dc:subject>PptxGenJS Presentation</dc:subject>
  <dc:creator>Rushmitha</dc:creator>
  <cp:lastModifiedBy>Rushmitha Reddy</cp:lastModifiedBy>
  <cp:revision>2</cp:revision>
  <dcterms:created xsi:type="dcterms:W3CDTF">2026-10-11T12:45:59Z</dcterms:created>
  <dcterms:modified xsi:type="dcterms:W3CDTF">2026-10-11T12:47:10Z</dcterms:modified>
</cp:coreProperties>
</file>