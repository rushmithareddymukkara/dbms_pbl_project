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" id="{61985724-D557-2763-CCDC-DC413EAE40C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D2B29-D57E-D64D-90F7-C11C3D645A2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60D31-5793-724E-AF04-9A1597D04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5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Faculty Workload &amp; Timetable Management System  |  Review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REVIEW 3  |  WEEK 16  |  FINAL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Faculty Workload and Timetable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6E6"/>
                </a:solidFill>
              </a:rPr>
              <a:t>Integrated Dashboard Results, Clash Detection, Substitution Logic &amp; System Testing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8288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Rushmitha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9D6E6"/>
                </a:solidFill>
              </a:rPr>
              <a:t>B.Tech - Artificial Intelligence &amp; Machine Learning (AIML)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9D6E6"/>
                </a:solidFill>
              </a:rPr>
              <a:t>Woxsen University - School of Technology | DBMS PBL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Project Journey: Review 1 to Review 3</a:t>
            </a:r>
            <a:endParaRPr lang="en-US" sz="2600" dirty="0"/>
          </a:p>
        </p:txBody>
      </p:sp>
      <p:sp>
        <p:nvSpPr>
          <p:cNvPr id="3" name="Phase 1"/>
          <p:cNvSpPr/>
          <p:nvPr/>
        </p:nvSpPr>
        <p:spPr>
          <a:xfrm>
            <a:off x="457200" y="1051560"/>
            <a:ext cx="26060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hase 1 accent"/>
          <p:cNvSpPr/>
          <p:nvPr/>
        </p:nvSpPr>
        <p:spPr>
          <a:xfrm>
            <a:off x="457200" y="1051560"/>
            <a:ext cx="64008" cy="33832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REVIEW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Design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Problem statement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Literature survey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ER diagram &amp; high-level schema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COMPLETED</a:t>
            </a:r>
            <a:endParaRPr lang="en-US" sz="1100" dirty="0"/>
          </a:p>
        </p:txBody>
      </p:sp>
      <p:sp>
        <p:nvSpPr>
          <p:cNvPr id="9" name="Phase 2"/>
          <p:cNvSpPr/>
          <p:nvPr/>
        </p:nvSpPr>
        <p:spPr>
          <a:xfrm>
            <a:off x="3264408" y="1051560"/>
            <a:ext cx="26060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hase 2 accent"/>
          <p:cNvSpPr/>
          <p:nvPr/>
        </p:nvSpPr>
        <p:spPr>
          <a:xfrm>
            <a:off x="3264408" y="1051560"/>
            <a:ext cx="64008" cy="3383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008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REVIEW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Build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103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3NF schema (8 tables)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DDL with PK, FK, UNIQUE, CHECK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SQL queries &amp; Streamlit prototype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COMPLETED</a:t>
            </a:r>
            <a:endParaRPr lang="en-US" sz="1100" dirty="0"/>
          </a:p>
        </p:txBody>
      </p:sp>
      <p:sp>
        <p:nvSpPr>
          <p:cNvPr id="15" name="Phase 3"/>
          <p:cNvSpPr/>
          <p:nvPr/>
        </p:nvSpPr>
        <p:spPr>
          <a:xfrm>
            <a:off x="6071616" y="1051560"/>
            <a:ext cx="26060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hase 3 accent"/>
          <p:cNvSpPr/>
          <p:nvPr/>
        </p:nvSpPr>
        <p:spPr>
          <a:xfrm>
            <a:off x="6071616" y="105156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0216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REVIEW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Integrate &amp; Validate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2103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 dashboard with 4 analytic views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Clash detection &amp; substitution logic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Testing, documentation, viva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CURRENT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Final System Architecture</a:t>
            </a:r>
            <a:endParaRPr lang="en-US" sz="2600" dirty="0"/>
          </a:p>
        </p:txBody>
      </p:sp>
      <p:sp>
        <p:nvSpPr>
          <p:cNvPr id="3" name="Presentation Layer"/>
          <p:cNvSpPr/>
          <p:nvPr/>
        </p:nvSpPr>
        <p:spPr>
          <a:xfrm>
            <a:off x="457200" y="1097280"/>
            <a:ext cx="237744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esentation Layer accent"/>
          <p:cNvSpPr/>
          <p:nvPr/>
        </p:nvSpPr>
        <p:spPr>
          <a:xfrm>
            <a:off x="457200" y="1097280"/>
            <a:ext cx="64008" cy="21031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34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Presentation Layer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45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Streamlit dashboard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116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4 navigation views, filters, charts, alerts</a:t>
            </a:r>
            <a:endParaRPr lang="en-US" sz="1250" dirty="0"/>
          </a:p>
        </p:txBody>
      </p:sp>
      <p:sp>
        <p:nvSpPr>
          <p:cNvPr id="8" name="Arrow 0"/>
          <p:cNvSpPr/>
          <p:nvPr/>
        </p:nvSpPr>
        <p:spPr>
          <a:xfrm>
            <a:off x="2880360" y="2011680"/>
            <a:ext cx="457200" cy="32004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Logic Layer"/>
          <p:cNvSpPr/>
          <p:nvPr/>
        </p:nvSpPr>
        <p:spPr>
          <a:xfrm>
            <a:off x="3383280" y="1097280"/>
            <a:ext cx="237744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ogic Layer accent"/>
          <p:cNvSpPr/>
          <p:nvPr/>
        </p:nvSpPr>
        <p:spPr>
          <a:xfrm>
            <a:off x="3383280" y="1097280"/>
            <a:ext cx="64008" cy="2103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1234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Logic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1645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Python + SQL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0116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Workload calculation, clash detection, capacity validation</a:t>
            </a:r>
            <a:endParaRPr lang="en-US" sz="1250" dirty="0"/>
          </a:p>
        </p:txBody>
      </p:sp>
      <p:sp>
        <p:nvSpPr>
          <p:cNvPr id="14" name="Arrow 1"/>
          <p:cNvSpPr/>
          <p:nvPr/>
        </p:nvSpPr>
        <p:spPr>
          <a:xfrm>
            <a:off x="5806440" y="2011680"/>
            <a:ext cx="457200" cy="32004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Data Layer"/>
          <p:cNvSpPr/>
          <p:nvPr/>
        </p:nvSpPr>
        <p:spPr>
          <a:xfrm>
            <a:off x="6309360" y="1097280"/>
            <a:ext cx="237744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ata Layer accent"/>
          <p:cNvSpPr/>
          <p:nvPr/>
        </p:nvSpPr>
        <p:spPr>
          <a:xfrm>
            <a:off x="6309360" y="1097280"/>
            <a:ext cx="64008" cy="21031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1234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Layer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1645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7A1B"/>
                </a:solidFill>
              </a:rPr>
              <a:t>SQLite / MySQL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20116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8 tables in 3NF with PK, FK, UNIQUE, CHECK constraints</a:t>
            </a:r>
            <a:endParaRPr lang="en-US" sz="1250" dirty="0"/>
          </a:p>
        </p:txBody>
      </p:sp>
      <p:sp>
        <p:nvSpPr>
          <p:cNvPr id="20" name="Protection card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rotection card accent"/>
          <p:cNvSpPr/>
          <p:nvPr/>
        </p:nvSpPr>
        <p:spPr>
          <a:xfrm>
            <a:off x="457200" y="3474720"/>
            <a:ext cx="64008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5844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TWO-LAYER CLASH PROTECTION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84048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Application layer validates capacity and availability before any write; database layer enforces composite UNIQUE constraints on faculty+slot, room+slot and section+slot as a final guarantee.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Integrated Modules Delivered</a:t>
            </a:r>
            <a:endParaRPr lang="en-US" sz="2600" dirty="0"/>
          </a:p>
        </p:txBody>
      </p:sp>
      <p:sp>
        <p:nvSpPr>
          <p:cNvPr id="3" name="Module 1"/>
          <p:cNvSpPr/>
          <p:nvPr/>
        </p:nvSpPr>
        <p:spPr>
          <a:xfrm>
            <a:off x="457200" y="105156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ule 1 accent"/>
          <p:cNvSpPr/>
          <p:nvPr/>
        </p:nvSpPr>
        <p:spPr>
          <a:xfrm>
            <a:off x="457200" y="1051560"/>
            <a:ext cx="64008" cy="1554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Faculty Workload Report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KPIs, load summary table and hours vs maximum norm chart.</a:t>
            </a:r>
            <a:endParaRPr lang="en-US" sz="1250" dirty="0"/>
          </a:p>
        </p:txBody>
      </p:sp>
      <p:sp>
        <p:nvSpPr>
          <p:cNvPr id="7" name="Module 2"/>
          <p:cNvSpPr/>
          <p:nvPr/>
        </p:nvSpPr>
        <p:spPr>
          <a:xfrm>
            <a:off x="3264408" y="105156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odule 2 accent"/>
          <p:cNvSpPr/>
          <p:nvPr/>
        </p:nvSpPr>
        <p:spPr>
          <a:xfrm>
            <a:off x="3264408" y="1051560"/>
            <a:ext cx="64008" cy="15544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5576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Section Timetable View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Weekly schedule per section with section and day filters.</a:t>
            </a:r>
            <a:endParaRPr lang="en-US" sz="1250" dirty="0"/>
          </a:p>
        </p:txBody>
      </p:sp>
      <p:sp>
        <p:nvSpPr>
          <p:cNvPr id="11" name="Module 3"/>
          <p:cNvSpPr/>
          <p:nvPr/>
        </p:nvSpPr>
        <p:spPr>
          <a:xfrm>
            <a:off x="6071616" y="105156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odule 3 accent"/>
          <p:cNvSpPr/>
          <p:nvPr/>
        </p:nvSpPr>
        <p:spPr>
          <a:xfrm>
            <a:off x="6071616" y="1051560"/>
            <a:ext cx="64008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Room Utilization Analysis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Usage metrics and weekly usage hours per room and lab.</a:t>
            </a:r>
            <a:endParaRPr lang="en-US" sz="1250" dirty="0"/>
          </a:p>
        </p:txBody>
      </p:sp>
      <p:sp>
        <p:nvSpPr>
          <p:cNvPr id="15" name="Module 4"/>
          <p:cNvSpPr/>
          <p:nvPr/>
        </p:nvSpPr>
        <p:spPr>
          <a:xfrm>
            <a:off x="457200" y="278892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odule 4 accent"/>
          <p:cNvSpPr/>
          <p:nvPr/>
        </p:nvSpPr>
        <p:spPr>
          <a:xfrm>
            <a:off x="457200" y="2788920"/>
            <a:ext cx="64008" cy="15544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Schedule Clash Monitor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Detects and reports conflicts with entries, resource and time.</a:t>
            </a:r>
            <a:endParaRPr lang="en-US" sz="1250" dirty="0"/>
          </a:p>
        </p:txBody>
      </p:sp>
      <p:sp>
        <p:nvSpPr>
          <p:cNvPr id="19" name="Module 5"/>
          <p:cNvSpPr/>
          <p:nvPr/>
        </p:nvSpPr>
        <p:spPr>
          <a:xfrm>
            <a:off x="3264408" y="278892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Module 5 accent"/>
          <p:cNvSpPr/>
          <p:nvPr/>
        </p:nvSpPr>
        <p:spPr>
          <a:xfrm>
            <a:off x="3264408" y="2788920"/>
            <a:ext cx="64008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65576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Real-Time Validation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465576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Capacity and double-booking checks before saving a schedule.</a:t>
            </a:r>
            <a:endParaRPr lang="en-US" sz="1250" dirty="0"/>
          </a:p>
        </p:txBody>
      </p:sp>
      <p:sp>
        <p:nvSpPr>
          <p:cNvPr id="23" name="Module 6"/>
          <p:cNvSpPr/>
          <p:nvPr/>
        </p:nvSpPr>
        <p:spPr>
          <a:xfrm>
            <a:off x="6071616" y="278892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odule 6 accent"/>
          <p:cNvSpPr/>
          <p:nvPr/>
        </p:nvSpPr>
        <p:spPr>
          <a:xfrm>
            <a:off x="6071616" y="2788920"/>
            <a:ext cx="64008" cy="1554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72784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Substitution Logic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Finds free, eligible faculty and logs it in the Substitution table.</a:t>
            </a:r>
            <a:endParaRPr lang="en-US" sz="12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 1: Faculty Workload &amp; Capacity</a:t>
            </a:r>
            <a:endParaRPr lang="en-US" sz="2600" dirty="0"/>
          </a:p>
        </p:txBody>
      </p:sp>
      <p:sp>
        <p:nvSpPr>
          <p:cNvPr id="3" name="Faculty workload dashboard frame"/>
          <p:cNvSpPr/>
          <p:nvPr/>
        </p:nvSpPr>
        <p:spPr>
          <a:xfrm>
            <a:off x="429768" y="1024128"/>
            <a:ext cx="5815584" cy="24706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Faculty workload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760720" cy="2415786"/>
          </a:xfrm>
          <a:prstGeom prst="rect">
            <a:avLst/>
          </a:prstGeom>
        </p:spPr>
      </p:pic>
      <p:sp>
        <p:nvSpPr>
          <p:cNvPr id="5" name="Key findings card"/>
          <p:cNvSpPr/>
          <p:nvPr/>
        </p:nvSpPr>
        <p:spPr>
          <a:xfrm>
            <a:off x="6446520" y="1051560"/>
            <a:ext cx="224028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Key findings card accent"/>
          <p:cNvSpPr/>
          <p:nvPr/>
        </p:nvSpPr>
        <p:spPr>
          <a:xfrm>
            <a:off x="6446520" y="1051560"/>
            <a:ext cx="64008" cy="2834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47688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47688" y="155448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3 faculty assigned; average 12.0 hrs/week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 overloaded: Dr. Rajesh Sharma, 14 h vs norm 12 h (-2)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Dr. Sahithi and Prof. Anita Roy have 4 spare hrs each</a:t>
            </a:r>
            <a:endParaRPr lang="en-US" sz="1250" dirty="0"/>
          </a:p>
        </p:txBody>
      </p:sp>
      <p:sp>
        <p:nvSpPr>
          <p:cNvPr id="9" name="Takeaway bar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</a:rPr>
              <a:t>TAKEAWAY  </a:t>
            </a:r>
            <a:r>
              <a:rPr lang="en-US" sz="1300" dirty="0">
                <a:solidFill>
                  <a:srgbClr val="FFFFFF"/>
                </a:solidFill>
              </a:rPr>
              <a:t>Overload is flagged instantly, and spare capacity points to who can take the load.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 2: Weekly Hours vs Maximum Target</a:t>
            </a:r>
            <a:endParaRPr lang="en-US" sz="2600" dirty="0"/>
          </a:p>
        </p:txBody>
      </p:sp>
      <p:sp>
        <p:nvSpPr>
          <p:cNvPr id="3" name="Hours vs max norm chart frame"/>
          <p:cNvSpPr/>
          <p:nvPr/>
        </p:nvSpPr>
        <p:spPr>
          <a:xfrm>
            <a:off x="429768" y="1024128"/>
            <a:ext cx="4809744" cy="30176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Hours vs max norm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754880" cy="2962784"/>
          </a:xfrm>
          <a:prstGeom prst="rect">
            <a:avLst/>
          </a:prstGeom>
        </p:spPr>
      </p:pic>
      <p:sp>
        <p:nvSpPr>
          <p:cNvPr id="5" name="Insight card"/>
          <p:cNvSpPr/>
          <p:nvPr/>
        </p:nvSpPr>
        <p:spPr>
          <a:xfrm>
            <a:off x="5440680" y="1051560"/>
            <a:ext cx="3246120" cy="2962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nsight card accent"/>
          <p:cNvSpPr/>
          <p:nvPr/>
        </p:nvSpPr>
        <p:spPr>
          <a:xfrm>
            <a:off x="5440680" y="1051560"/>
            <a:ext cx="64008" cy="2962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41848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41848" y="1554480"/>
            <a:ext cx="2926080" cy="2368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Interactive stacked chart: allocated hours vs each faculty's max norm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Hover shows faculty name, value and series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Overloads are visible at a glance</a:t>
            </a:r>
            <a:endParaRPr lang="en-US" sz="1250" dirty="0"/>
          </a:p>
        </p:txBody>
      </p:sp>
      <p:sp>
        <p:nvSpPr>
          <p:cNvPr id="9" name="Takeaway bar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</a:rPr>
              <a:t>TAKEAWAY  </a:t>
            </a:r>
            <a:r>
              <a:rPr lang="en-US" sz="1300" dirty="0">
                <a:solidFill>
                  <a:srgbClr val="FFFFFF"/>
                </a:solidFill>
              </a:rPr>
              <a:t>Visual comparison supports fair rebalancing and substitution decisions.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 3: Section Master Schedule</a:t>
            </a:r>
            <a:endParaRPr lang="en-US" sz="2600" dirty="0"/>
          </a:p>
        </p:txBody>
      </p:sp>
      <p:sp>
        <p:nvSpPr>
          <p:cNvPr id="3" name="Section timetable dashboard frame"/>
          <p:cNvSpPr/>
          <p:nvPr/>
        </p:nvSpPr>
        <p:spPr>
          <a:xfrm>
            <a:off x="429768" y="1024128"/>
            <a:ext cx="5815584" cy="203704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Section timetable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760720" cy="1982183"/>
          </a:xfrm>
          <a:prstGeom prst="rect">
            <a:avLst/>
          </a:prstGeom>
        </p:spPr>
      </p:pic>
      <p:sp>
        <p:nvSpPr>
          <p:cNvPr id="5" name="Key findings card"/>
          <p:cNvSpPr/>
          <p:nvPr/>
        </p:nvSpPr>
        <p:spPr>
          <a:xfrm>
            <a:off x="6446520" y="1051560"/>
            <a:ext cx="224028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Key findings card accent"/>
          <p:cNvSpPr/>
          <p:nvPr/>
        </p:nvSpPr>
        <p:spPr>
          <a:xfrm>
            <a:off x="6446520" y="1051560"/>
            <a:ext cx="64008" cy="2834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47688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47688" y="155448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Filter by section and day (AIML Rhinos - Sem 4 shown)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Rows show day, slot, course, faculty and room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3 weekly sessions: CS201 (x2) and AI302</a:t>
            </a:r>
            <a:endParaRPr lang="en-US" sz="1250" dirty="0"/>
          </a:p>
        </p:txBody>
      </p:sp>
      <p:sp>
        <p:nvSpPr>
          <p:cNvPr id="9" name="Takeaway bar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</a:rPr>
              <a:t>TAKEAWAY  </a:t>
            </a:r>
            <a:r>
              <a:rPr lang="en-US" sz="1300" dirty="0">
                <a:solidFill>
                  <a:srgbClr val="FFFFFF"/>
                </a:solidFill>
              </a:rPr>
              <a:t>Students and coordinators get a clear, filterable weekly timetable per section.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 4: Room &amp; Lab Utilization</a:t>
            </a:r>
            <a:endParaRPr lang="en-US" sz="2600" dirty="0"/>
          </a:p>
        </p:txBody>
      </p:sp>
      <p:sp>
        <p:nvSpPr>
          <p:cNvPr id="3" name="Room utilization dashboard frame"/>
          <p:cNvSpPr/>
          <p:nvPr/>
        </p:nvSpPr>
        <p:spPr>
          <a:xfrm>
            <a:off x="429768" y="1024128"/>
            <a:ext cx="5815584" cy="268401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Room utilization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760720" cy="2629146"/>
          </a:xfrm>
          <a:prstGeom prst="rect">
            <a:avLst/>
          </a:prstGeom>
        </p:spPr>
      </p:pic>
      <p:sp>
        <p:nvSpPr>
          <p:cNvPr id="5" name="Key findings card"/>
          <p:cNvSpPr/>
          <p:nvPr/>
        </p:nvSpPr>
        <p:spPr>
          <a:xfrm>
            <a:off x="6446520" y="1051560"/>
            <a:ext cx="224028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Key findings card accent"/>
          <p:cNvSpPr/>
          <p:nvPr/>
        </p:nvSpPr>
        <p:spPr>
          <a:xfrm>
            <a:off x="6446520" y="1051560"/>
            <a:ext cx="64008" cy="2834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47688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47688" y="155448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CR-101: 18 periods, 27 hrs/wk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CR-102: 15 periods, 22.5 hrs/wk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Lab-3: 22 periods, 33 hrs/wk (capacity 40)</a:t>
            </a:r>
            <a:endParaRPr lang="en-US" sz="1250" dirty="0"/>
          </a:p>
        </p:txBody>
      </p:sp>
      <p:sp>
        <p:nvSpPr>
          <p:cNvPr id="9" name="Takeaway bar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</a:rPr>
              <a:t>TAKEAWAY  </a:t>
            </a:r>
            <a:r>
              <a:rPr lang="en-US" sz="1300" dirty="0">
                <a:solidFill>
                  <a:srgbClr val="FFFFFF"/>
                </a:solidFill>
              </a:rPr>
              <a:t>Lab-3 is the busiest resource, so it is the first candidate for load balancing.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 5: Timetable Integrity &amp; Conflict Detection</a:t>
            </a:r>
            <a:endParaRPr lang="en-US" sz="2600" dirty="0"/>
          </a:p>
        </p:txBody>
      </p:sp>
      <p:sp>
        <p:nvSpPr>
          <p:cNvPr id="3" name="Clash monitor dashboard frame"/>
          <p:cNvSpPr/>
          <p:nvPr/>
        </p:nvSpPr>
        <p:spPr>
          <a:xfrm>
            <a:off x="429768" y="1024128"/>
            <a:ext cx="5815584" cy="18443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Clash monitor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760720" cy="1789471"/>
          </a:xfrm>
          <a:prstGeom prst="rect">
            <a:avLst/>
          </a:prstGeom>
        </p:spPr>
      </p:pic>
      <p:sp>
        <p:nvSpPr>
          <p:cNvPr id="5" name="Conflict detected card"/>
          <p:cNvSpPr/>
          <p:nvPr/>
        </p:nvSpPr>
        <p:spPr>
          <a:xfrm>
            <a:off x="6446520" y="1051560"/>
            <a:ext cx="224028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onflict detected card accent"/>
          <p:cNvSpPr/>
          <p:nvPr/>
        </p:nvSpPr>
        <p:spPr>
          <a:xfrm>
            <a:off x="6446520" y="1051560"/>
            <a:ext cx="64008" cy="2834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47688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CONFLICT DETECTED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47688" y="155448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Alert: 1 conflict in the proposed schedule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ENTRY_012 vs ENTRY_019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Room double-booking: CR-102, Tuesday 10:00 AM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Status: CRITICAL ALERT</a:t>
            </a:r>
            <a:endParaRPr lang="en-US" sz="1250" dirty="0"/>
          </a:p>
        </p:txBody>
      </p:sp>
      <p:sp>
        <p:nvSpPr>
          <p:cNvPr id="9" name="Takeaway bar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</a:rPr>
              <a:t>TAKEAWAY  </a:t>
            </a:r>
            <a:r>
              <a:rPr lang="en-US" sz="1300" dirty="0">
                <a:solidFill>
                  <a:srgbClr val="FFFFFF"/>
                </a:solidFill>
              </a:rPr>
              <a:t>Clashes are caught and reported before they reach the final timetable.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Clash Detection &amp; Substitution Logic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Detect double-booked rooms</a:t>
            </a:r>
            <a:endParaRPr lang="en-US" sz="1300" dirty="0"/>
          </a:p>
        </p:txBody>
      </p:sp>
      <p:sp>
        <p:nvSpPr>
          <p:cNvPr id="4" name="Clash SQL"/>
          <p:cNvSpPr/>
          <p:nvPr/>
        </p:nvSpPr>
        <p:spPr>
          <a:xfrm>
            <a:off x="457200" y="1280160"/>
            <a:ext cx="402336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room_id, slot_id, COUNT(*) AS clashes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TimetableEntry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room_id, slot_id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Find eligible substitutes for a slot</a:t>
            </a:r>
            <a:endParaRPr lang="en-US" sz="1300" dirty="0"/>
          </a:p>
        </p:txBody>
      </p:sp>
      <p:sp>
        <p:nvSpPr>
          <p:cNvPr id="7" name="Substitute SQL"/>
          <p:cNvSpPr/>
          <p:nvPr/>
        </p:nvSpPr>
        <p:spPr>
          <a:xfrm>
            <a:off x="457200" y="3063240"/>
            <a:ext cx="4023360" cy="1600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1546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f.faculty_id, f.name FROM Faculty 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f.faculty_id &lt;&gt; :absent_id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f.faculty_id NOT IN (SELECT faculty_id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FROM TimetableEntry WHERE slot_id = :slot)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(SELECT COUNT(*) FROM TimetableEntry 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t.faculty_id = f.faculty_id)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 f.max_hours_per_week;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SUBSTITUTION WORKFLOW</a:t>
            </a:r>
            <a:endParaRPr lang="en-US" sz="1100" dirty="0"/>
          </a:p>
        </p:txBody>
      </p:sp>
      <p:sp>
        <p:nvSpPr>
          <p:cNvPr id="10" name="Step 1"/>
          <p:cNvSpPr/>
          <p:nvPr/>
        </p:nvSpPr>
        <p:spPr>
          <a:xfrm>
            <a:off x="4754880" y="1353312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Faculty reported absent for a slot</a:t>
            </a:r>
            <a:endParaRPr lang="en-US" sz="1300" dirty="0"/>
          </a:p>
        </p:txBody>
      </p:sp>
      <p:sp>
        <p:nvSpPr>
          <p:cNvPr id="13" name="Step 2"/>
          <p:cNvSpPr/>
          <p:nvPr/>
        </p:nvSpPr>
        <p:spPr>
          <a:xfrm>
            <a:off x="4754880" y="201168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984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Query free faculty under their weekly max</a:t>
            </a:r>
            <a:endParaRPr lang="en-US" sz="1300" dirty="0"/>
          </a:p>
        </p:txBody>
      </p:sp>
      <p:sp>
        <p:nvSpPr>
          <p:cNvPr id="16" name="Step 3"/>
          <p:cNvSpPr/>
          <p:nvPr/>
        </p:nvSpPr>
        <p:spPr>
          <a:xfrm>
            <a:off x="4754880" y="2670048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6426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Check same-department preference</a:t>
            </a:r>
            <a:endParaRPr lang="en-US" sz="1300" dirty="0"/>
          </a:p>
        </p:txBody>
      </p:sp>
      <p:sp>
        <p:nvSpPr>
          <p:cNvPr id="19" name="Step 4"/>
          <p:cNvSpPr/>
          <p:nvPr/>
        </p:nvSpPr>
        <p:spPr>
          <a:xfrm>
            <a:off x="4754880" y="3328416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3009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Insert record into Substitution table</a:t>
            </a:r>
            <a:endParaRPr lang="en-US" sz="1300" dirty="0"/>
          </a:p>
        </p:txBody>
      </p:sp>
      <p:sp>
        <p:nvSpPr>
          <p:cNvPr id="22" name="Step 5"/>
          <p:cNvSpPr/>
          <p:nvPr/>
        </p:nvSpPr>
        <p:spPr>
          <a:xfrm>
            <a:off x="4754880" y="3986784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986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3959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Workload report refreshes automatically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System Testing &amp; Validation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/ Expected result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TC-01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Workload report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Dr. Rajesh Sharma shown at 14 h vs 12 h norm (-2)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</a:rPr>
                        <a:t>Pass (observed)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TC-02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Overload KPI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 of 3 faculty flagged; average 12.0 hrs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</a:rPr>
                        <a:t>Pass (observed)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TC-03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Section timetable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Section and day filters return 3 sessions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</a:rPr>
                        <a:t>Pass (observed)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TC-04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Room utilization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CR-101 27 h, CR-102 22.5 h, Lab-3 33 h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</a:rPr>
                        <a:t>Pass (observed)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TC-05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Clash detection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ENTRY_012 vs ENTRY_019 on CR-102 flagged critical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</a:rPr>
                        <a:t>Pass (observed)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TC-06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Capacity validation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Section strength above room capacity is rejected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7A1B"/>
                          </a:solidFill>
                        </a:rPr>
                        <a:t>To verify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TC-07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Substitution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Free eligible faculty assigned; record saved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7A1B"/>
                          </a:solidFill>
                        </a:rPr>
                        <a:t>To verify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TC-08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Edge-case load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Bulk entries run without errors or false clashes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7A1B"/>
                          </a:solidFill>
                        </a:rPr>
                        <a:t>To verify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 &amp; Future Scope</a:t>
            </a:r>
            <a:endParaRPr lang="en-US" sz="2600" dirty="0"/>
          </a:p>
        </p:txBody>
      </p:sp>
      <p:sp>
        <p:nvSpPr>
          <p:cNvPr id="3" name="Achievements card"/>
          <p:cNvSpPr/>
          <p:nvPr/>
        </p:nvSpPr>
        <p:spPr>
          <a:xfrm>
            <a:off x="457200" y="1051560"/>
            <a:ext cx="26060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hievements card accent"/>
          <p:cNvSpPr/>
          <p:nvPr/>
        </p:nvSpPr>
        <p:spPr>
          <a:xfrm>
            <a:off x="457200" y="105156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ACHIEVEMENTS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5448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3NF database with 8 constrained tables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Working 4-view analytics dashboard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Conflicts and overloads detected automatically</a:t>
            </a:r>
            <a:endParaRPr lang="en-US" sz="1250" dirty="0"/>
          </a:p>
        </p:txBody>
      </p:sp>
      <p:sp>
        <p:nvSpPr>
          <p:cNvPr id="7" name="Limitations card"/>
          <p:cNvSpPr/>
          <p:nvPr/>
        </p:nvSpPr>
        <p:spPr>
          <a:xfrm>
            <a:off x="3246120" y="1051560"/>
            <a:ext cx="26060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imitations card accent"/>
          <p:cNvSpPr/>
          <p:nvPr/>
        </p:nvSpPr>
        <p:spPr>
          <a:xfrm>
            <a:off x="3246120" y="1051560"/>
            <a:ext cx="64008" cy="33832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5448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Prototype data (3 faculty, 3 rooms)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Substitution logic yet to get a dashboard 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Manual schedule entry</a:t>
            </a:r>
            <a:endParaRPr lang="en-US" sz="1250" dirty="0"/>
          </a:p>
        </p:txBody>
      </p:sp>
      <p:sp>
        <p:nvSpPr>
          <p:cNvPr id="11" name="Future scope card"/>
          <p:cNvSpPr/>
          <p:nvPr/>
        </p:nvSpPr>
        <p:spPr>
          <a:xfrm>
            <a:off x="6035040" y="105156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uture scope card accent"/>
          <p:cNvSpPr/>
          <p:nvPr/>
        </p:nvSpPr>
        <p:spPr>
          <a:xfrm>
            <a:off x="6035040" y="1051560"/>
            <a:ext cx="64008" cy="3383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188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55448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Auto-generated timetables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Role-based login for faculty and admin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Export to PDF/Excel and email alerts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Thank you  |  Questions?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3">
  <a:themeElements>
    <a:clrScheme name="Review3">
      <a:dk1>
        <a:srgbClr val="1E2A38"/>
      </a:dk1>
      <a:lt1>
        <a:srgbClr val="FFFFFF"/>
      </a:lt1>
      <a:dk2>
        <a:srgbClr val="14284B"/>
      </a:dk2>
      <a:lt2>
        <a:srgbClr val="EEF3F8"/>
      </a:lt2>
      <a:accent1>
        <a:srgbClr val="0F7C8C"/>
      </a:accent1>
      <a:accent2>
        <a:srgbClr val="E8A33D"/>
      </a:accent2>
      <a:accent3>
        <a:srgbClr val="3B5BA5"/>
      </a:accent3>
      <a:accent4>
        <a:srgbClr val="5BA37A"/>
      </a:accent4>
      <a:accent5>
        <a:srgbClr val="C0504D"/>
      </a:accent5>
      <a:accent6>
        <a:srgbClr val="7A6FB0"/>
      </a:accent6>
      <a:hlink>
        <a:srgbClr val="0F7C8C"/>
      </a:hlink>
      <a:folHlink>
        <a:srgbClr val="7A6FB0"/>
      </a:folHlink>
    </a:clrScheme>
    <a:fontScheme name="Review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Review3</vt:lpstr>
      <vt:lpstr>PowerPoint Presentation</vt:lpstr>
      <vt:lpstr>Project Journey: Review 1 to Review 3</vt:lpstr>
      <vt:lpstr>Final System Architecture</vt:lpstr>
      <vt:lpstr>Integrated Modules Delivered</vt:lpstr>
      <vt:lpstr>Result 1: Faculty Workload &amp; Capacity</vt:lpstr>
      <vt:lpstr>Result 2: Weekly Hours vs Maximum Target</vt:lpstr>
      <vt:lpstr>Result 3: Section Master Schedule</vt:lpstr>
      <vt:lpstr>Result 4: Room &amp; Lab Utilization</vt:lpstr>
      <vt:lpstr>Result 5: Timetable Integrity &amp; Conflict Detection</vt:lpstr>
      <vt:lpstr>Clash Detection &amp; Substitution Logic</vt:lpstr>
      <vt:lpstr>System Testing &amp; Validation</vt:lpstr>
      <vt:lpstr>Conclusion &amp;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Workload and Timetable Management System - Review 3</dc:title>
  <dc:subject>PptxGenJS Presentation</dc:subject>
  <dc:creator>Rushmitha</dc:creator>
  <cp:lastModifiedBy>Rushmitha Reddy</cp:lastModifiedBy>
  <cp:revision>2</cp:revision>
  <dcterms:created xsi:type="dcterms:W3CDTF">2026-10-11T12:53:12Z</dcterms:created>
  <dcterms:modified xsi:type="dcterms:W3CDTF">2026-10-11T12:54:58Z</dcterms:modified>
</cp:coreProperties>
</file>