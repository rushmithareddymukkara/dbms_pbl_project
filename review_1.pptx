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0"/>
            <a:ext cx="12188952" cy="0"/>
          </a:xfrm>
          <a:prstGeom prst="line">
            <a:avLst/>
          </a:prstGeom>
          <a:noFill/>
          <a:ln w="12700">
            <a:solidFill>
              <a:srgbClr val="2C38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65960"/>
            <a:ext cx="12188952" cy="0"/>
          </a:xfrm>
          <a:prstGeom prst="line">
            <a:avLst/>
          </a:prstGeom>
          <a:noFill/>
          <a:ln w="12700">
            <a:solidFill>
              <a:srgbClr val="2C387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926080"/>
            <a:ext cx="12188952" cy="0"/>
          </a:xfrm>
          <a:prstGeom prst="line">
            <a:avLst/>
          </a:prstGeom>
          <a:noFill/>
          <a:ln w="12700">
            <a:solidFill>
              <a:srgbClr val="2C38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886200"/>
            <a:ext cx="12188952" cy="0"/>
          </a:xfrm>
          <a:prstGeom prst="line">
            <a:avLst/>
          </a:prstGeom>
          <a:noFill/>
          <a:ln w="12700">
            <a:solidFill>
              <a:srgbClr val="2C38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46320"/>
            <a:ext cx="12188952" cy="0"/>
          </a:xfrm>
          <a:prstGeom prst="line">
            <a:avLst/>
          </a:prstGeom>
          <a:noFill/>
          <a:ln w="12700">
            <a:solidFill>
              <a:srgbClr val="2C38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806440"/>
            <a:ext cx="12188952" cy="0"/>
          </a:xfrm>
          <a:prstGeom prst="line">
            <a:avLst/>
          </a:prstGeom>
          <a:noFill/>
          <a:ln w="12700">
            <a:solidFill>
              <a:srgbClr val="2C38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2A3579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0" y="4297680"/>
            <a:ext cx="3291840" cy="3291840"/>
          </a:xfrm>
          <a:prstGeom prst="ellipse">
            <a:avLst/>
          </a:prstGeom>
          <a:solidFill>
            <a:srgbClr val="263070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88720"/>
            <a:ext cx="3383280" cy="411480"/>
          </a:xfrm>
          <a:prstGeom prst="roundRect">
            <a:avLst>
              <a:gd name="adj" fmla="val 20000"/>
            </a:avLst>
          </a:prstGeom>
          <a:solidFill>
            <a:srgbClr val="F2A64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1188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PROJECT INITIATION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87452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Timetable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System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703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Database-Driven Constraint Enforcement System for Faculty, Room &amp; Section Scheduling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" y="4434840"/>
            <a:ext cx="2011680" cy="0"/>
          </a:xfrm>
          <a:prstGeom prst="line">
            <a:avLst/>
          </a:prstGeom>
          <a:noFill/>
          <a:ln w="38100">
            <a:solidFill>
              <a:srgbClr val="F2A64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Specification  |  ER Design  |  Implementation Roadmap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Background, Context &amp; the Core Problem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8D6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F2A64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488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&amp; Context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8892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institutions handle complex scheduling environments every semester. Managing faculty workloads, classroom allocations, and section timetables requires coordinating multiple moving parts across departments.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035040" y="1874520"/>
            <a:ext cx="5669280" cy="420624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2148840"/>
            <a:ext cx="502920" cy="502920"/>
          </a:xfrm>
          <a:prstGeom prst="ellipse">
            <a:avLst/>
          </a:prstGeom>
          <a:solidFill>
            <a:srgbClr val="F2A64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550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1488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Problem Statement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78892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and spreadsheet-based timetable generation processes are prone to human error, resource conflicts, and policy violations.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academic departments lack a unified, automated database system to enforce scheduling rules in real time, monitor workload equity, and handle unexpected schedule modifications.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Timetable Scheduling System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Pain Points — Scheduling Conflicts (Clashes)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8D6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51660" y="23317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85166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3375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 Overlap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93192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faculty member accidentally assigned to teach two different sections during the same time slot.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96596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8D6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83580" y="23317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78358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3375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Overlap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93192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distinct student sections scheduled in the same physical classroom at the same time.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21040" y="196596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8D6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715500" y="23317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71550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3375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Overlap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0" y="393192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student section assigned to two different courses/labs simultaneously.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clashes arise from the absence of automated, real-time cross-checking across faculty, room, and section assignments.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Timetable Scheduling System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Mismatches &amp; Capacity Violations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31720"/>
            <a:ext cx="594360" cy="594360"/>
          </a:xfrm>
          <a:prstGeom prst="ellipse">
            <a:avLst/>
          </a:prstGeom>
          <a:solidFill>
            <a:srgbClr val="F2A64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14884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Classrooms assigned without checking seating capacity against student batch sizes.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749040"/>
            <a:ext cx="594360" cy="594360"/>
          </a:xfrm>
          <a:prstGeom prst="ellipse">
            <a:avLst/>
          </a:prstGeom>
          <a:solidFill>
            <a:srgbClr val="F2A64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749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56616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lecture halls (e.g., 100 capacity) allocated to small elective batches (e.g., 15 students), wasting high-capacity space.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484632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5166360"/>
            <a:ext cx="594360" cy="594360"/>
          </a:xfrm>
          <a:prstGeom prst="ellipse">
            <a:avLst/>
          </a:prstGeom>
          <a:solidFill>
            <a:srgbClr val="F2A64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5166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98348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classrooms allocated to large required courses, leading to overcrowding.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Timetable Scheduling System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Workload Discrepancies &amp; Inequality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1247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8600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2860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Difficulty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210312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tracking total weekly teaching hours per faculty member across different departments and course types (Lectures vs. Labs).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11247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79476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7947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 Risk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361188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of exceeding maximum workload limits defined by university or departmental norms.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983480"/>
            <a:ext cx="11247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530352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5303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Unequal Distribution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246120" y="512064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Unequal distribution of teaching hours among junior and senior faculty members.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Timetable Scheduling System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Friction &amp; Data Integrity Issues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8D6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F2A64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488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Inflexible Substitution &amp; Operational Friction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089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faculty member is absent, finding an available substitute with matching subject expertise and free time slots requires manual cross-checking.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audit trails or historical records for past substitutions.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92024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9AA8D6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2194560"/>
            <a:ext cx="502920" cy="502920"/>
          </a:xfrm>
          <a:prstGeom prst="ellipse">
            <a:avLst/>
          </a:prstGeom>
          <a:solidFill>
            <a:srgbClr val="F2A64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☢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21488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Redundancy &amp; Lack of Integrity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1089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schedule details across loose Excel files leads to duplicate data entries, outdated files, and missing foreign key checks.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Timetable Scheduling System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Analysis — Comparing Scheduling Approaches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existing approaches were analyzed to design an optimal system: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1247120" cy="3931920"/>
        </p:xfrm>
        <a:graphic>
          <a:graphicData uri="http://schemas.openxmlformats.org/drawingml/2006/table">
            <a:tbl>
              <a:tblPr/>
              <a:tblGrid>
                <a:gridCol w="2834640"/>
                <a:gridCol w="4754880"/>
                <a:gridCol w="3657600"/>
              </a:tblGrid>
              <a:tr h="982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Limitation / Advantage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Manual &amp; Spreadsheet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(Excel / Google Sheets)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 coordinators use manual grid tables to place courses and faculty into time slots.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relational integrity, no real-time clash detection, hard to scale.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Heuristic &amp; AI-Based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(Genetic Algorithms)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meta-heuristic algorithms to automatically generate fully optimal timetables.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Highly complex, computationally heavy, over-engineered for small/medium depts.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Database-Driven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 Enforcement (Proposed)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relational database (RDBMS) paired with an interactive application interface.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7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ACID/3NF integrity, instant rule enforcement, &lt;1s response time.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Timetable Scheduling System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206240" cy="365760"/>
          </a:xfrm>
          <a:prstGeom prst="roundRect">
            <a:avLst>
              <a:gd name="adj" fmla="val 20000"/>
            </a:avLst>
          </a:prstGeom>
          <a:solidFill>
            <a:srgbClr val="F2A64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Database-Driven Constraint Enforcement System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management system (RDBMS) paired with an interactive application interface.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3611880" cy="3566160"/>
          </a:xfrm>
          <a:prstGeom prst="roundRect">
            <a:avLst>
              <a:gd name="adj" fmla="val 2308"/>
            </a:avLst>
          </a:prstGeom>
          <a:solidFill>
            <a:srgbClr val="263070"/>
          </a:solidFill>
          <a:ln/>
        </p:spPr>
      </p:sp>
      <p:sp>
        <p:nvSpPr>
          <p:cNvPr id="7" name="Shape 5"/>
          <p:cNvSpPr/>
          <p:nvPr/>
        </p:nvSpPr>
        <p:spPr>
          <a:xfrm>
            <a:off x="1874520" y="2651760"/>
            <a:ext cx="777240" cy="777240"/>
          </a:xfrm>
          <a:prstGeom prst="ellipse">
            <a:avLst/>
          </a:prstGeom>
          <a:solidFill>
            <a:srgbClr val="F2A64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874520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6118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 Data Integrity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20624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strict transactional data integrity (3NF schema) and ACID compliance.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2331720"/>
            <a:ext cx="3611880" cy="3566160"/>
          </a:xfrm>
          <a:prstGeom prst="roundRect">
            <a:avLst>
              <a:gd name="adj" fmla="val 2308"/>
            </a:avLst>
          </a:prstGeom>
          <a:solidFill>
            <a:srgbClr val="263070"/>
          </a:solidFill>
          <a:ln/>
        </p:spPr>
      </p:sp>
      <p:sp>
        <p:nvSpPr>
          <p:cNvPr id="12" name="Shape 10"/>
          <p:cNvSpPr/>
          <p:nvPr/>
        </p:nvSpPr>
        <p:spPr>
          <a:xfrm>
            <a:off x="5806440" y="2651760"/>
            <a:ext cx="777240" cy="777240"/>
          </a:xfrm>
          <a:prstGeom prst="ellipse">
            <a:avLst/>
          </a:prstGeom>
          <a:solidFill>
            <a:srgbClr val="F2A64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06440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6118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Rule Enforcement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420624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business rules instantly using unique composite constraints and application logic.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21040" y="2331720"/>
            <a:ext cx="3611880" cy="3566160"/>
          </a:xfrm>
          <a:prstGeom prst="roundRect">
            <a:avLst>
              <a:gd name="adj" fmla="val 2308"/>
            </a:avLst>
          </a:prstGeom>
          <a:solidFill>
            <a:srgbClr val="263070"/>
          </a:solidFill>
          <a:ln/>
        </p:spPr>
      </p:sp>
      <p:sp>
        <p:nvSpPr>
          <p:cNvPr id="17" name="Shape 15"/>
          <p:cNvSpPr/>
          <p:nvPr/>
        </p:nvSpPr>
        <p:spPr>
          <a:xfrm>
            <a:off x="9738360" y="2651760"/>
            <a:ext cx="777240" cy="777240"/>
          </a:xfrm>
          <a:prstGeom prst="ellipse">
            <a:avLst/>
          </a:prstGeom>
          <a:solidFill>
            <a:srgbClr val="F2A64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738360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36118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Response Times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420624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fast response times (&lt; 1 second) for clash checks, queries, and substitution logging.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Timetable Scheduling System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Phases &amp; Timeline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417320" y="2697480"/>
            <a:ext cx="0" cy="283464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1945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103120" y="2057400"/>
            <a:ext cx="9601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31720" y="2176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241401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Identification &amp; Requirements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277063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gathering, stakeholder analysis, and conceptual design foundation.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51560" y="36118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2103120" y="3474720"/>
            <a:ext cx="9601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331720" y="3593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331720" y="383133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 Normalization &amp; Schema Design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2331720" y="418795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of the relational schema, entity modeling, and constraint definition.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51560" y="5029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51560" y="5029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2103120" y="4892040"/>
            <a:ext cx="9601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331720" y="50109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331720" y="524865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/ Java Application Development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2331720" y="560527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interactive application layer on top of the database engine.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Timetable Scheduling System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 (NFR)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8D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2585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67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4048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Integrity &amp; Normalization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8620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structure must adhere to 3NF standards to eliminate redundant entries and update anomalies.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96596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8D6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37960" y="22585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2167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24048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&amp; Speed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286207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queries (clash check, workload check, room capacity check) must execute in under 1 second.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8D6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4074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55371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Role-Based Access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01091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features (scheduling, modifying, deleting) must be password-protected from general student/faculty view access.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41148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8D6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37960" y="44074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37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26948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7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455371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Usability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501091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interface featuring clear error messages whenever a scheduling attempt is rejected.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Timetable Scheduling System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MODEL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Specification — Entities &amp; Key Attributes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4297680"/>
        </p:xfrm>
        <a:graphic>
          <a:graphicData uri="http://schemas.openxmlformats.org/drawingml/2006/table">
            <a:tbl>
              <a:tblPr/>
              <a:tblGrid>
                <a:gridCol w="502920"/>
                <a:gridCol w="2331720"/>
                <a:gridCol w="841248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Attributes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dept_id (PK), dept_name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faculty_id (PK), name, email, max_hours_per_week, dept_id (FK)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course_id (PK), course_code, course_name, credits, weekly_hours, dept_id (FK)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section_id (PK), section_name, enrolled_students, course_id (FK)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room_id (PK), room_number, capacity, room_type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TIMESLOT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slot_id (PK), day_of_week, start_time, end_time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TIMETABLE_ENTRY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entry_id (PK), section_id (FK), faculty_id (FK), room_id (FK), slot_id (FK)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substitution_id (PK), entry_id (FK), original_faculty_id (FK), substitute_faculty_id (FK), sub_date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Timetable Scheduling System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891A301-55E2-4489-966E-46B239F2B6A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MODEL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 &amp; Cardinality Mapping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9456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21945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7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43400" y="219456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26307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43400" y="2194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205740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department employs multiple faculty members; a faculty member belongs to one department.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36392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364992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33649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336499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7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43400" y="3364992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26307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343400" y="336499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3227832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department offers multiple courses; a course belongs to one department.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306824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535424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45354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200400" y="453542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7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343400" y="4535424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26307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343400" y="453542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4398264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course can have multiple sections; each section belongs to one course.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477256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5705856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800" y="570585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TIMETABLE_ENTRY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3200400" y="570585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7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: 1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343400" y="5705856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26307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343400" y="570585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/ ROOM / SLOT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5568696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timetable entry links one section to one faculty member, one room, and one timeslot.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Timetable Scheduling System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63070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572000"/>
            <a:ext cx="3657600" cy="3657600"/>
          </a:xfrm>
          <a:prstGeom prst="ellipse">
            <a:avLst/>
          </a:prstGeom>
          <a:solidFill>
            <a:srgbClr val="26307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F2A64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02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SUMMARY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144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2A6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8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965960"/>
            <a:ext cx="10241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Respected Faculty, in Review 1, we identify the operational bottlenecks in academic scheduling. Traditional Excel-based scheduling creates human errors such as double-booking rooms, assigning faculty past their weekly teaching hours, or placing 60 students in a 30-capacity room.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project resolves this by building a relational database system that automatically enforces zero-clash constraints, monitors workload caps, and validates room capacity before any schedule is saved.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14400" y="5486400"/>
            <a:ext cx="1828800" cy="0"/>
          </a:xfrm>
          <a:prstGeom prst="line">
            <a:avLst/>
          </a:prstGeom>
          <a:noFill/>
          <a:ln w="38100">
            <a:solidFill>
              <a:srgbClr val="F2A64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5623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Explanation Script — Review 1 Presentation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Timetable Scheduling System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6307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4688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429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" y="4114800"/>
            <a:ext cx="2011680" cy="0"/>
          </a:xfrm>
          <a:prstGeom prst="line">
            <a:avLst/>
          </a:prstGeom>
          <a:noFill/>
          <a:ln w="38100">
            <a:solidFill>
              <a:srgbClr val="F2A6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Timetable Scheduling System  |  Review 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2026-09-09T05:05:16Z</dcterms:created>
  <dcterms:modified xsi:type="dcterms:W3CDTF">2026-09-09T05:05:16Z</dcterms:modified>
</cp:coreProperties>
</file>